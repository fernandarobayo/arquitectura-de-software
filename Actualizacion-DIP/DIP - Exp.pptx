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8" r:id="rId7"/>
    <p:sldId id="261" r:id="rId8"/>
    <p:sldId id="266" r:id="rId9"/>
  </p:sldIdLst>
  <p:sldSz cx="18288000" cy="10287000"/>
  <p:notesSz cx="6858000" cy="9144000"/>
  <p:embeddedFontLst>
    <p:embeddedFont>
      <p:font typeface="Carelia" panose="020B0604020202020204" charset="0"/>
      <p:regular r:id="rId10"/>
    </p:embeddedFont>
    <p:embeddedFont>
      <p:font typeface="Montserrat" panose="00000500000000000000" pitchFamily="2" charset="0"/>
      <p:regular r:id="rId11"/>
      <p:bold r:id="rId12"/>
      <p:italic r:id="rId13"/>
      <p:boldItalic r:id="rId14"/>
    </p:embeddedFont>
    <p:embeddedFont>
      <p:font typeface="Montserrat Bold" panose="00000800000000000000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-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2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7.svg"/><Relationship Id="rId7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3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0.svg"/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12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4.sv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4.svg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2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2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37.svg"/><Relationship Id="rId10" Type="http://schemas.openxmlformats.org/officeDocument/2006/relationships/image" Target="../media/image39.svg"/><Relationship Id="rId4" Type="http://schemas.openxmlformats.org/officeDocument/2006/relationships/image" Target="../media/image36.png"/><Relationship Id="rId9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svg"/><Relationship Id="rId3" Type="http://schemas.openxmlformats.org/officeDocument/2006/relationships/image" Target="../media/image2.svg"/><Relationship Id="rId7" Type="http://schemas.openxmlformats.org/officeDocument/2006/relationships/image" Target="../media/image41.svg"/><Relationship Id="rId12" Type="http://schemas.openxmlformats.org/officeDocument/2006/relationships/image" Target="../media/image46.png"/><Relationship Id="rId2" Type="http://schemas.openxmlformats.org/officeDocument/2006/relationships/image" Target="../media/image1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5.svg"/><Relationship Id="rId5" Type="http://schemas.openxmlformats.org/officeDocument/2006/relationships/image" Target="../media/image4.svg"/><Relationship Id="rId15" Type="http://schemas.openxmlformats.org/officeDocument/2006/relationships/image" Target="../media/image49.svg"/><Relationship Id="rId10" Type="http://schemas.openxmlformats.org/officeDocument/2006/relationships/image" Target="../media/image44.png"/><Relationship Id="rId4" Type="http://schemas.openxmlformats.org/officeDocument/2006/relationships/image" Target="../media/image3.png"/><Relationship Id="rId9" Type="http://schemas.openxmlformats.org/officeDocument/2006/relationships/image" Target="../media/image43.svg"/><Relationship Id="rId1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14472" y="679150"/>
            <a:ext cx="8059055" cy="8059055"/>
          </a:xfrm>
          <a:custGeom>
            <a:avLst/>
            <a:gdLst/>
            <a:ahLst/>
            <a:cxnLst/>
            <a:rect l="l" t="t" r="r" b="b"/>
            <a:pathLst>
              <a:path w="8059055" h="8059055">
                <a:moveTo>
                  <a:pt x="0" y="0"/>
                </a:moveTo>
                <a:lnTo>
                  <a:pt x="8059056" y="0"/>
                </a:lnTo>
                <a:lnTo>
                  <a:pt x="8059056" y="8059055"/>
                </a:lnTo>
                <a:lnTo>
                  <a:pt x="0" y="8059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dirty="0"/>
          </a:p>
        </p:txBody>
      </p:sp>
      <p:sp>
        <p:nvSpPr>
          <p:cNvPr id="3" name="Freeform 3"/>
          <p:cNvSpPr/>
          <p:nvPr/>
        </p:nvSpPr>
        <p:spPr>
          <a:xfrm>
            <a:off x="7063710" y="3567607"/>
            <a:ext cx="4160580" cy="461446"/>
          </a:xfrm>
          <a:custGeom>
            <a:avLst/>
            <a:gdLst/>
            <a:ahLst/>
            <a:cxnLst/>
            <a:rect l="l" t="t" r="r" b="b"/>
            <a:pathLst>
              <a:path w="4160580" h="461446">
                <a:moveTo>
                  <a:pt x="0" y="0"/>
                </a:moveTo>
                <a:lnTo>
                  <a:pt x="4160580" y="0"/>
                </a:lnTo>
                <a:lnTo>
                  <a:pt x="4160580" y="461446"/>
                </a:lnTo>
                <a:lnTo>
                  <a:pt x="0" y="461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186949" y="5692666"/>
            <a:ext cx="5009073" cy="4744958"/>
          </a:xfrm>
          <a:custGeom>
            <a:avLst/>
            <a:gdLst/>
            <a:ahLst/>
            <a:cxnLst/>
            <a:rect l="l" t="t" r="r" b="b"/>
            <a:pathLst>
              <a:path w="5009073" h="4744958">
                <a:moveTo>
                  <a:pt x="0" y="0"/>
                </a:moveTo>
                <a:lnTo>
                  <a:pt x="5009074" y="0"/>
                </a:lnTo>
                <a:lnTo>
                  <a:pt x="5009074" y="4744959"/>
                </a:lnTo>
                <a:lnTo>
                  <a:pt x="0" y="47449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77941">
            <a:off x="-652915" y="6859018"/>
            <a:ext cx="4402996" cy="4114800"/>
          </a:xfrm>
          <a:custGeom>
            <a:avLst/>
            <a:gdLst/>
            <a:ahLst/>
            <a:cxnLst/>
            <a:rect l="l" t="t" r="r" b="b"/>
            <a:pathLst>
              <a:path w="4402996" h="4114800">
                <a:moveTo>
                  <a:pt x="0" y="0"/>
                </a:moveTo>
                <a:lnTo>
                  <a:pt x="4402997" y="0"/>
                </a:lnTo>
                <a:lnTo>
                  <a:pt x="440299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120981" y="-711888"/>
            <a:ext cx="3725764" cy="4114800"/>
          </a:xfrm>
          <a:custGeom>
            <a:avLst/>
            <a:gdLst/>
            <a:ahLst/>
            <a:cxnLst/>
            <a:rect l="l" t="t" r="r" b="b"/>
            <a:pathLst>
              <a:path w="3725764" h="4114800">
                <a:moveTo>
                  <a:pt x="0" y="0"/>
                </a:moveTo>
                <a:lnTo>
                  <a:pt x="3725764" y="0"/>
                </a:lnTo>
                <a:lnTo>
                  <a:pt x="37257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286048" y="7548011"/>
            <a:ext cx="2834933" cy="2572057"/>
          </a:xfrm>
          <a:custGeom>
            <a:avLst/>
            <a:gdLst/>
            <a:ahLst/>
            <a:cxnLst/>
            <a:rect l="l" t="t" r="r" b="b"/>
            <a:pathLst>
              <a:path w="2834933" h="2572057">
                <a:moveTo>
                  <a:pt x="0" y="0"/>
                </a:moveTo>
                <a:lnTo>
                  <a:pt x="2834933" y="0"/>
                </a:lnTo>
                <a:lnTo>
                  <a:pt x="2834933" y="2572058"/>
                </a:lnTo>
                <a:lnTo>
                  <a:pt x="0" y="25720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47185">
            <a:off x="3102614" y="7394046"/>
            <a:ext cx="2551459" cy="2688319"/>
          </a:xfrm>
          <a:custGeom>
            <a:avLst/>
            <a:gdLst/>
            <a:ahLst/>
            <a:cxnLst/>
            <a:rect l="l" t="t" r="r" b="b"/>
            <a:pathLst>
              <a:path w="2551459" h="2688319">
                <a:moveTo>
                  <a:pt x="0" y="0"/>
                </a:moveTo>
                <a:lnTo>
                  <a:pt x="2551460" y="0"/>
                </a:lnTo>
                <a:lnTo>
                  <a:pt x="2551460" y="2688319"/>
                </a:lnTo>
                <a:lnTo>
                  <a:pt x="0" y="268831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572354" y="-711888"/>
            <a:ext cx="3739373" cy="3739373"/>
          </a:xfrm>
          <a:custGeom>
            <a:avLst/>
            <a:gdLst/>
            <a:ahLst/>
            <a:cxnLst/>
            <a:rect l="l" t="t" r="r" b="b"/>
            <a:pathLst>
              <a:path w="3739373" h="3739373">
                <a:moveTo>
                  <a:pt x="0" y="0"/>
                </a:moveTo>
                <a:lnTo>
                  <a:pt x="3739373" y="0"/>
                </a:lnTo>
                <a:lnTo>
                  <a:pt x="3739373" y="3739374"/>
                </a:lnTo>
                <a:lnTo>
                  <a:pt x="0" y="373937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211544" y="393838"/>
            <a:ext cx="1889507" cy="1903349"/>
          </a:xfrm>
          <a:custGeom>
            <a:avLst/>
            <a:gdLst/>
            <a:ahLst/>
            <a:cxnLst/>
            <a:rect l="l" t="t" r="r" b="b"/>
            <a:pathLst>
              <a:path w="1889507" h="1903349">
                <a:moveTo>
                  <a:pt x="0" y="0"/>
                </a:moveTo>
                <a:lnTo>
                  <a:pt x="1889507" y="0"/>
                </a:lnTo>
                <a:lnTo>
                  <a:pt x="1889507" y="1903349"/>
                </a:lnTo>
                <a:lnTo>
                  <a:pt x="0" y="190334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617930">
            <a:off x="14980542" y="330918"/>
            <a:ext cx="1413053" cy="2029188"/>
          </a:xfrm>
          <a:custGeom>
            <a:avLst/>
            <a:gdLst/>
            <a:ahLst/>
            <a:cxnLst/>
            <a:rect l="l" t="t" r="r" b="b"/>
            <a:pathLst>
              <a:path w="1413053" h="2029188">
                <a:moveTo>
                  <a:pt x="0" y="0"/>
                </a:moveTo>
                <a:lnTo>
                  <a:pt x="1413052" y="0"/>
                </a:lnTo>
                <a:lnTo>
                  <a:pt x="1413052" y="2029188"/>
                </a:lnTo>
                <a:lnTo>
                  <a:pt x="0" y="202918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885720" y="1969534"/>
            <a:ext cx="16516561" cy="1467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63"/>
              </a:lnSpc>
            </a:pPr>
            <a:r>
              <a:rPr lang="en-US" sz="11435" spc="-194" dirty="0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DIP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99244" y="2951286"/>
            <a:ext cx="11889511" cy="736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36"/>
              </a:lnSpc>
            </a:pPr>
            <a:r>
              <a:rPr lang="en-US" sz="4383" b="1" spc="-74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DEPENDENCY INVERSION PRINCIPLE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31097" y="3981428"/>
            <a:ext cx="5425807" cy="311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Daniela Sanabria Mosquera</a:t>
            </a:r>
          </a:p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Karina Cantillo Plaza</a:t>
            </a:r>
          </a:p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Laura Sofia Cangrejo</a:t>
            </a:r>
          </a:p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Carol Liceth Cruz Roa</a:t>
            </a:r>
          </a:p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Nicolas Garcia Quintero</a:t>
            </a:r>
          </a:p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Maria Fernanda Robayo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243CCEA-D542-E564-22B2-47A7478FF08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1363" y="3567607"/>
            <a:ext cx="1905000" cy="17754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505200" y="465846"/>
            <a:ext cx="9355306" cy="9355306"/>
          </a:xfrm>
          <a:custGeom>
            <a:avLst/>
            <a:gdLst/>
            <a:ahLst/>
            <a:cxnLst/>
            <a:rect l="l" t="t" r="r" b="b"/>
            <a:pathLst>
              <a:path w="9355306" h="9355306">
                <a:moveTo>
                  <a:pt x="0" y="0"/>
                </a:moveTo>
                <a:lnTo>
                  <a:pt x="9355306" y="0"/>
                </a:lnTo>
                <a:lnTo>
                  <a:pt x="9355306" y="9355307"/>
                </a:lnTo>
                <a:lnTo>
                  <a:pt x="0" y="9355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6472" y="2322509"/>
            <a:ext cx="5714325" cy="5226010"/>
          </a:xfrm>
          <a:custGeom>
            <a:avLst/>
            <a:gdLst/>
            <a:ahLst/>
            <a:cxnLst/>
            <a:rect l="l" t="t" r="r" b="b"/>
            <a:pathLst>
              <a:path w="5714325" h="5226010">
                <a:moveTo>
                  <a:pt x="0" y="0"/>
                </a:moveTo>
                <a:lnTo>
                  <a:pt x="5714325" y="0"/>
                </a:lnTo>
                <a:lnTo>
                  <a:pt x="5714325" y="5226010"/>
                </a:lnTo>
                <a:lnTo>
                  <a:pt x="0" y="5226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dirty="0"/>
          </a:p>
        </p:txBody>
      </p:sp>
      <p:sp>
        <p:nvSpPr>
          <p:cNvPr id="4" name="Freeform 4"/>
          <p:cNvSpPr/>
          <p:nvPr/>
        </p:nvSpPr>
        <p:spPr>
          <a:xfrm rot="-1479779">
            <a:off x="4581998" y="5484974"/>
            <a:ext cx="2536213" cy="4114800"/>
          </a:xfrm>
          <a:custGeom>
            <a:avLst/>
            <a:gdLst/>
            <a:ahLst/>
            <a:cxnLst/>
            <a:rect l="l" t="t" r="r" b="b"/>
            <a:pathLst>
              <a:path w="2536213" h="4114800">
                <a:moveTo>
                  <a:pt x="0" y="0"/>
                </a:moveTo>
                <a:lnTo>
                  <a:pt x="2536213" y="0"/>
                </a:lnTo>
                <a:lnTo>
                  <a:pt x="25362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861044" y="2919540"/>
            <a:ext cx="9512556" cy="5542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9080" lvl="1" algn="l">
              <a:lnSpc>
                <a:spcPts val="5472"/>
              </a:lnSpc>
            </a:pPr>
            <a:r>
              <a:rPr lang="es-E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Es uno de los cinco principios SOLID del diseño de software.</a:t>
            </a:r>
          </a:p>
          <a:p>
            <a:pPr marL="259080" lvl="1" algn="l">
              <a:lnSpc>
                <a:spcPts val="5472"/>
              </a:lnSpc>
            </a:pPr>
            <a:r>
              <a:rPr lang="es-ES" sz="2400" b="1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Objetivo</a:t>
            </a:r>
            <a:r>
              <a:rPr lang="es-E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</a:p>
          <a:p>
            <a:pPr marL="601980" lvl="1" indent="-342900" algn="l">
              <a:lnSpc>
                <a:spcPts val="5472"/>
              </a:lnSpc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Reducir el acoplamiento entre componentes.</a:t>
            </a:r>
          </a:p>
          <a:p>
            <a:pPr marL="601980" lvl="1" indent="-342900" algn="l">
              <a:lnSpc>
                <a:spcPts val="5472"/>
              </a:lnSpc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Hacer el sistema más flexible.</a:t>
            </a:r>
          </a:p>
          <a:p>
            <a:pPr marL="601980" lvl="1" indent="-342900" algn="l">
              <a:lnSpc>
                <a:spcPts val="5472"/>
              </a:lnSpc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Permitir cambios sin romper el código. </a:t>
            </a:r>
          </a:p>
          <a:p>
            <a:pPr marL="601980" lvl="1" indent="-342900" algn="l">
              <a:lnSpc>
                <a:spcPts val="5472"/>
              </a:lnSpc>
              <a:buFont typeface="Arial" panose="020B0604020202020204" pitchFamily="34" charset="0"/>
              <a:buChar char="•"/>
            </a:pPr>
            <a:endParaRPr lang="es-ES" sz="2400" dirty="0">
              <a:solidFill>
                <a:srgbClr val="291B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59080" lvl="1" algn="l">
              <a:lnSpc>
                <a:spcPts val="5472"/>
              </a:lnSpc>
            </a:pPr>
            <a:r>
              <a:rPr lang="es-E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El código importante no debe depender de detalles técnicos, sino de reglas generales</a:t>
            </a:r>
            <a:endParaRPr lang="en-US" sz="2400" dirty="0">
              <a:solidFill>
                <a:srgbClr val="291B2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816C38-6F1B-D439-CB30-933BDDCDF4D6}"/>
              </a:ext>
            </a:extLst>
          </p:cNvPr>
          <p:cNvSpPr txBox="1"/>
          <p:nvPr/>
        </p:nvSpPr>
        <p:spPr>
          <a:xfrm>
            <a:off x="8610600" y="1436429"/>
            <a:ext cx="6420719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¿</a:t>
            </a:r>
            <a:r>
              <a:rPr lang="en-US" sz="6000" dirty="0" err="1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QUÉ</a:t>
            </a:r>
            <a:r>
              <a:rPr lang="en-US" sz="6000" dirty="0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 ES EL DIP?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12617F7-3429-063B-94EE-5834E3CC652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2298" y="189755"/>
            <a:ext cx="1905000" cy="17754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2744" y="8531078"/>
            <a:ext cx="4160580" cy="461446"/>
          </a:xfrm>
          <a:custGeom>
            <a:avLst/>
            <a:gdLst/>
            <a:ahLst/>
            <a:cxnLst/>
            <a:rect l="l" t="t" r="r" b="b"/>
            <a:pathLst>
              <a:path w="4160580" h="461446">
                <a:moveTo>
                  <a:pt x="0" y="0"/>
                </a:moveTo>
                <a:lnTo>
                  <a:pt x="4160581" y="0"/>
                </a:lnTo>
                <a:lnTo>
                  <a:pt x="4160581" y="461446"/>
                </a:lnTo>
                <a:lnTo>
                  <a:pt x="0" y="46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67901" y="3853425"/>
            <a:ext cx="9355306" cy="9355306"/>
          </a:xfrm>
          <a:custGeom>
            <a:avLst/>
            <a:gdLst/>
            <a:ahLst/>
            <a:cxnLst/>
            <a:rect l="l" t="t" r="r" b="b"/>
            <a:pathLst>
              <a:path w="9355306" h="9355306">
                <a:moveTo>
                  <a:pt x="0" y="0"/>
                </a:moveTo>
                <a:lnTo>
                  <a:pt x="9355306" y="0"/>
                </a:lnTo>
                <a:lnTo>
                  <a:pt x="9355306" y="9355306"/>
                </a:lnTo>
                <a:lnTo>
                  <a:pt x="0" y="9355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73550" y="2673670"/>
            <a:ext cx="9914732" cy="5686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s-E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El principio establece que:</a:t>
            </a:r>
          </a:p>
          <a:p>
            <a:pPr marL="342900" indent="-342900" algn="l">
              <a:lnSpc>
                <a:spcPts val="4950"/>
              </a:lnSpc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Los módulos de alto nivel (lógica del negocio) no deben depender de módulos de bajo nivel (detalles técnicos).</a:t>
            </a:r>
          </a:p>
          <a:p>
            <a:pPr marL="342900" indent="-342900" algn="l">
              <a:lnSpc>
                <a:spcPts val="4950"/>
              </a:lnSpc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Ambos deben depender de abstracciones (interfaces).</a:t>
            </a:r>
          </a:p>
          <a:p>
            <a:pPr marL="342900" indent="-342900" algn="l">
              <a:lnSpc>
                <a:spcPts val="4950"/>
              </a:lnSpc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Los detalles deben adaptarse a las reglas, no las reglas a los detalles.</a:t>
            </a:r>
          </a:p>
          <a:p>
            <a:pPr marL="342900" indent="-342900" algn="l">
              <a:lnSpc>
                <a:spcPts val="4950"/>
              </a:lnSpc>
              <a:buFont typeface="Arial" panose="020B0604020202020204" pitchFamily="34" charset="0"/>
              <a:buChar char="•"/>
            </a:pPr>
            <a:endParaRPr lang="es-ES" sz="2400" dirty="0">
              <a:solidFill>
                <a:srgbClr val="291B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950"/>
              </a:lnSpc>
            </a:pPr>
            <a:r>
              <a:rPr lang="es-E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Esto permite que el sistema sea estable aunque cambien las tecnologías.</a:t>
            </a:r>
            <a:endParaRPr lang="en-US" sz="2400" dirty="0">
              <a:solidFill>
                <a:srgbClr val="291B2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972744" y="1629401"/>
            <a:ext cx="7247456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¿</a:t>
            </a:r>
            <a:r>
              <a:rPr lang="en-US" sz="6000" dirty="0" err="1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QUÉ</a:t>
            </a:r>
            <a:r>
              <a:rPr lang="en-US" sz="6000" dirty="0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 </a:t>
            </a:r>
            <a:r>
              <a:rPr lang="en-US" sz="6000" dirty="0" err="1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SIGNIFICA</a:t>
            </a:r>
            <a:r>
              <a:rPr lang="en-US" sz="6000" dirty="0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?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066657E-B803-C503-2047-8929E8FFBB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88282" y="2678678"/>
            <a:ext cx="5895144" cy="5681549"/>
          </a:xfrm>
          <a:prstGeom prst="rect">
            <a:avLst/>
          </a:prstGeom>
        </p:spPr>
      </p:pic>
      <p:sp>
        <p:nvSpPr>
          <p:cNvPr id="7" name="Freeform 20">
            <a:extLst>
              <a:ext uri="{FF2B5EF4-FFF2-40B4-BE49-F238E27FC236}">
                <a16:creationId xmlns:a16="http://schemas.microsoft.com/office/drawing/2014/main" id="{B4675858-3675-CDCF-E9D0-70A118FDE87D}"/>
              </a:ext>
            </a:extLst>
          </p:cNvPr>
          <p:cNvSpPr/>
          <p:nvPr/>
        </p:nvSpPr>
        <p:spPr>
          <a:xfrm>
            <a:off x="15286277" y="6299796"/>
            <a:ext cx="3001723" cy="3235178"/>
          </a:xfrm>
          <a:custGeom>
            <a:avLst/>
            <a:gdLst/>
            <a:ahLst/>
            <a:cxnLst/>
            <a:rect l="l" t="t" r="r" b="b"/>
            <a:pathLst>
              <a:path w="440502" h="549379">
                <a:moveTo>
                  <a:pt x="0" y="0"/>
                </a:moveTo>
                <a:lnTo>
                  <a:pt x="440502" y="0"/>
                </a:lnTo>
                <a:lnTo>
                  <a:pt x="440502" y="549379"/>
                </a:lnTo>
                <a:lnTo>
                  <a:pt x="0" y="5493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4B7978A-2611-3FF9-13C9-90A6C69C5ED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2298" y="189755"/>
            <a:ext cx="1905000" cy="17754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4800" y="4000500"/>
            <a:ext cx="20140619" cy="20140619"/>
          </a:xfrm>
          <a:custGeom>
            <a:avLst/>
            <a:gdLst/>
            <a:ahLst/>
            <a:cxnLst/>
            <a:rect l="l" t="t" r="r" b="b"/>
            <a:pathLst>
              <a:path w="20140619" h="20140619">
                <a:moveTo>
                  <a:pt x="0" y="0"/>
                </a:moveTo>
                <a:lnTo>
                  <a:pt x="20140620" y="0"/>
                </a:lnTo>
                <a:lnTo>
                  <a:pt x="20140620" y="20140619"/>
                </a:lnTo>
                <a:lnTo>
                  <a:pt x="0" y="20140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dirty="0"/>
          </a:p>
        </p:txBody>
      </p:sp>
      <p:sp>
        <p:nvSpPr>
          <p:cNvPr id="3" name="Freeform 3"/>
          <p:cNvSpPr/>
          <p:nvPr/>
        </p:nvSpPr>
        <p:spPr>
          <a:xfrm>
            <a:off x="7063319" y="1582265"/>
            <a:ext cx="4160580" cy="461446"/>
          </a:xfrm>
          <a:custGeom>
            <a:avLst/>
            <a:gdLst/>
            <a:ahLst/>
            <a:cxnLst/>
            <a:rect l="l" t="t" r="r" b="b"/>
            <a:pathLst>
              <a:path w="4160580" h="461446">
                <a:moveTo>
                  <a:pt x="0" y="0"/>
                </a:moveTo>
                <a:lnTo>
                  <a:pt x="4160580" y="0"/>
                </a:lnTo>
                <a:lnTo>
                  <a:pt x="4160580" y="461446"/>
                </a:lnTo>
                <a:lnTo>
                  <a:pt x="0" y="461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560292" y="2658188"/>
            <a:ext cx="2726708" cy="6447711"/>
          </a:xfrm>
          <a:custGeom>
            <a:avLst/>
            <a:gdLst/>
            <a:ahLst/>
            <a:cxnLst/>
            <a:rect l="l" t="t" r="r" b="b"/>
            <a:pathLst>
              <a:path w="1229433" h="2315713">
                <a:moveTo>
                  <a:pt x="0" y="0"/>
                </a:moveTo>
                <a:lnTo>
                  <a:pt x="1229434" y="0"/>
                </a:lnTo>
                <a:lnTo>
                  <a:pt x="1229434" y="2315713"/>
                </a:lnTo>
                <a:lnTo>
                  <a:pt x="0" y="23157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dirty="0"/>
          </a:p>
        </p:txBody>
      </p:sp>
      <p:sp>
        <p:nvSpPr>
          <p:cNvPr id="5" name="TextBox 5"/>
          <p:cNvSpPr txBox="1"/>
          <p:nvPr/>
        </p:nvSpPr>
        <p:spPr>
          <a:xfrm>
            <a:off x="7046504" y="904600"/>
            <a:ext cx="3887090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291B25"/>
                </a:solidFill>
                <a:latin typeface="Carelia"/>
                <a:ea typeface="Carelia"/>
                <a:cs typeface="Carelia"/>
                <a:sym typeface="Carelia"/>
              </a:rPr>
              <a:t>vs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52800" y="771614"/>
            <a:ext cx="194643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dirty="0">
                <a:solidFill>
                  <a:srgbClr val="291B25"/>
                </a:solidFill>
                <a:latin typeface="Carelia"/>
                <a:ea typeface="Carelia"/>
                <a:cs typeface="Carelia"/>
                <a:sym typeface="Carelia"/>
              </a:rPr>
              <a:t>Pros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342236" y="771614"/>
            <a:ext cx="320654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dirty="0">
                <a:solidFill>
                  <a:srgbClr val="291B25"/>
                </a:solidFill>
                <a:latin typeface="Carelia"/>
                <a:ea typeface="Carelia"/>
                <a:cs typeface="Carelia"/>
                <a:sym typeface="Carelia"/>
              </a:rPr>
              <a:t>Contras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2058" y="1905706"/>
            <a:ext cx="7887914" cy="7658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 algn="l">
              <a:lnSpc>
                <a:spcPts val="5472"/>
              </a:lnSpc>
              <a:buFont typeface="Arial"/>
              <a:buChar char="•"/>
            </a:pP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Reduce el </a:t>
            </a: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acoplamiento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entre </a:t>
            </a: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componentes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518160" lvl="1" indent="-259080" algn="l">
              <a:lnSpc>
                <a:spcPts val="5472"/>
              </a:lnSpc>
              <a:buFont typeface="Arial"/>
              <a:buChar char="•"/>
            </a:pPr>
            <a:endParaRPr lang="en-US" sz="2400" dirty="0">
              <a:solidFill>
                <a:srgbClr val="291B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18160" lvl="1" indent="-259080" algn="l">
              <a:lnSpc>
                <a:spcPts val="5472"/>
              </a:lnSpc>
              <a:buFont typeface="Arial"/>
              <a:buChar char="•"/>
            </a:pP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Facilita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el </a:t>
            </a: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mantenimiento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del </a:t>
            </a: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código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518160" lvl="1" indent="-259080" algn="l">
              <a:lnSpc>
                <a:spcPts val="5472"/>
              </a:lnSpc>
              <a:buFont typeface="Arial"/>
              <a:buChar char="•"/>
            </a:pPr>
            <a:endParaRPr lang="en-US" sz="2400" dirty="0">
              <a:solidFill>
                <a:srgbClr val="291B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18160" lvl="1" indent="-259080" algn="l">
              <a:lnSpc>
                <a:spcPts val="5472"/>
              </a:lnSpc>
              <a:buFont typeface="Arial"/>
              <a:buChar char="•"/>
            </a:pP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Permite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cambiar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implementaciones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marL="259080" lvl="1" algn="l">
              <a:lnSpc>
                <a:spcPts val="5472"/>
              </a:lnSpc>
            </a:pP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fácilmente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518160" lvl="1" indent="-259080" algn="l">
              <a:lnSpc>
                <a:spcPts val="5472"/>
              </a:lnSpc>
              <a:buFont typeface="Arial"/>
              <a:buChar char="•"/>
            </a:pPr>
            <a:endParaRPr lang="en-US" sz="2400" dirty="0">
              <a:solidFill>
                <a:srgbClr val="291B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18160" lvl="1" indent="-259080" algn="l">
              <a:lnSpc>
                <a:spcPts val="5472"/>
              </a:lnSpc>
              <a:buFont typeface="Arial"/>
              <a:buChar char="•"/>
            </a:pP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Mejora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la </a:t>
            </a: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flexibilidad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del </a:t>
            </a: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sistema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259080" lvl="1" algn="ctr">
              <a:lnSpc>
                <a:spcPts val="5472"/>
              </a:lnSpc>
            </a:pPr>
            <a:endParaRPr lang="en-US" sz="2400" dirty="0">
              <a:solidFill>
                <a:srgbClr val="291B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18160" lvl="1" indent="-259080" algn="l">
              <a:lnSpc>
                <a:spcPts val="5472"/>
              </a:lnSpc>
              <a:buFont typeface="Arial"/>
              <a:buChar char="•"/>
            </a:pP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Facilita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las </a:t>
            </a: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pruebas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del software.</a:t>
            </a:r>
          </a:p>
          <a:p>
            <a:pPr algn="l">
              <a:lnSpc>
                <a:spcPts val="5472"/>
              </a:lnSpc>
            </a:pPr>
            <a:endParaRPr lang="en-US" sz="2400" dirty="0">
              <a:solidFill>
                <a:srgbClr val="291B2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100858" y="2136429"/>
            <a:ext cx="7887913" cy="5542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 algn="l">
              <a:lnSpc>
                <a:spcPts val="5472"/>
              </a:lnSpc>
              <a:buFont typeface="Arial"/>
              <a:buChar char="•"/>
            </a:pP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Aumenta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la </a:t>
            </a: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complejidad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inicial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518160" lvl="1" indent="-259080" algn="l">
              <a:lnSpc>
                <a:spcPts val="5472"/>
              </a:lnSpc>
              <a:buFont typeface="Arial"/>
              <a:buChar char="•"/>
            </a:pPr>
            <a:endParaRPr lang="en-US" sz="2400" dirty="0">
              <a:solidFill>
                <a:srgbClr val="291B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18160" lvl="1" indent="-259080" algn="l">
              <a:lnSpc>
                <a:spcPts val="5472"/>
              </a:lnSpc>
              <a:buFont typeface="Arial"/>
              <a:buChar char="•"/>
            </a:pP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Requiere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crear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más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interfaces y </a:t>
            </a: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clases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518160" lvl="1" indent="-259080" algn="l">
              <a:lnSpc>
                <a:spcPts val="5472"/>
              </a:lnSpc>
              <a:buFont typeface="Arial"/>
              <a:buChar char="•"/>
            </a:pPr>
            <a:endParaRPr lang="en-US" sz="2400" dirty="0">
              <a:solidFill>
                <a:srgbClr val="291B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18160" lvl="1" indent="-259080" algn="l">
              <a:lnSpc>
                <a:spcPts val="5472"/>
              </a:lnSpc>
              <a:buFont typeface="Arial"/>
              <a:buChar char="•"/>
            </a:pP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Puede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ser </a:t>
            </a: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difícil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entender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para </a:t>
            </a: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principiantes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518160" lvl="1" indent="-259080" algn="l">
              <a:lnSpc>
                <a:spcPts val="5472"/>
              </a:lnSpc>
              <a:buFont typeface="Arial"/>
              <a:buChar char="•"/>
            </a:pPr>
            <a:endParaRPr lang="en-US" sz="2400" dirty="0">
              <a:solidFill>
                <a:srgbClr val="291B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18160" lvl="1" indent="-259080" algn="l">
              <a:lnSpc>
                <a:spcPts val="5472"/>
              </a:lnSpc>
              <a:buFont typeface="Arial"/>
              <a:buChar char="•"/>
            </a:pP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Aumenta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el </a:t>
            </a: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tiempo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desarrollo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al </a:t>
            </a: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inicio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518160" lvl="1" indent="-259080" algn="l">
              <a:lnSpc>
                <a:spcPts val="5472"/>
              </a:lnSpc>
              <a:buFont typeface="Arial"/>
              <a:buChar char="•"/>
            </a:pPr>
            <a:endParaRPr lang="en-US" sz="2400" dirty="0">
              <a:solidFill>
                <a:srgbClr val="291B2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56F019C-186C-A1F8-EC21-0F48DB90C4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2298" y="189755"/>
            <a:ext cx="1905000" cy="17754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3119B3-775D-1A6D-B7D8-085AD78F3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5807C2E-5708-0AFA-EC10-B110971B91FC}"/>
              </a:ext>
            </a:extLst>
          </p:cNvPr>
          <p:cNvSpPr/>
          <p:nvPr/>
        </p:nvSpPr>
        <p:spPr>
          <a:xfrm>
            <a:off x="2685701" y="-401349"/>
            <a:ext cx="12750614" cy="11089698"/>
          </a:xfrm>
          <a:custGeom>
            <a:avLst/>
            <a:gdLst/>
            <a:ahLst/>
            <a:cxnLst/>
            <a:rect l="l" t="t" r="r" b="b"/>
            <a:pathLst>
              <a:path w="8059055" h="8059055">
                <a:moveTo>
                  <a:pt x="0" y="0"/>
                </a:moveTo>
                <a:lnTo>
                  <a:pt x="8059056" y="0"/>
                </a:lnTo>
                <a:lnTo>
                  <a:pt x="8059056" y="8059055"/>
                </a:lnTo>
                <a:lnTo>
                  <a:pt x="0" y="8059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5E90940-A5E6-3FDC-F05E-865C026DBEE8}"/>
              </a:ext>
            </a:extLst>
          </p:cNvPr>
          <p:cNvSpPr/>
          <p:nvPr/>
        </p:nvSpPr>
        <p:spPr>
          <a:xfrm>
            <a:off x="7051113" y="8645374"/>
            <a:ext cx="4160580" cy="461446"/>
          </a:xfrm>
          <a:custGeom>
            <a:avLst/>
            <a:gdLst/>
            <a:ahLst/>
            <a:cxnLst/>
            <a:rect l="l" t="t" r="r" b="b"/>
            <a:pathLst>
              <a:path w="4160580" h="461446">
                <a:moveTo>
                  <a:pt x="0" y="0"/>
                </a:moveTo>
                <a:lnTo>
                  <a:pt x="4160580" y="0"/>
                </a:lnTo>
                <a:lnTo>
                  <a:pt x="4160580" y="461446"/>
                </a:lnTo>
                <a:lnTo>
                  <a:pt x="0" y="461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dirty="0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7D60ACB-39F1-13F1-4667-85A34EC09DE0}"/>
              </a:ext>
            </a:extLst>
          </p:cNvPr>
          <p:cNvSpPr/>
          <p:nvPr/>
        </p:nvSpPr>
        <p:spPr>
          <a:xfrm>
            <a:off x="14741316" y="7016788"/>
            <a:ext cx="3408047" cy="3257171"/>
          </a:xfrm>
          <a:custGeom>
            <a:avLst/>
            <a:gdLst/>
            <a:ahLst/>
            <a:cxnLst/>
            <a:rect l="l" t="t" r="r" b="b"/>
            <a:pathLst>
              <a:path w="2834933" h="2572057">
                <a:moveTo>
                  <a:pt x="0" y="0"/>
                </a:moveTo>
                <a:lnTo>
                  <a:pt x="2834933" y="0"/>
                </a:lnTo>
                <a:lnTo>
                  <a:pt x="2834933" y="2572058"/>
                </a:lnTo>
                <a:lnTo>
                  <a:pt x="0" y="25720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880DC1E-4626-464D-0E81-6613105EF712}"/>
              </a:ext>
            </a:extLst>
          </p:cNvPr>
          <p:cNvSpPr/>
          <p:nvPr/>
        </p:nvSpPr>
        <p:spPr>
          <a:xfrm rot="1429393">
            <a:off x="185527" y="6963153"/>
            <a:ext cx="3041743" cy="2934406"/>
          </a:xfrm>
          <a:custGeom>
            <a:avLst/>
            <a:gdLst/>
            <a:ahLst/>
            <a:cxnLst/>
            <a:rect l="l" t="t" r="r" b="b"/>
            <a:pathLst>
              <a:path w="2551459" h="2688319">
                <a:moveTo>
                  <a:pt x="0" y="0"/>
                </a:moveTo>
                <a:lnTo>
                  <a:pt x="2551460" y="0"/>
                </a:lnTo>
                <a:lnTo>
                  <a:pt x="2551460" y="2688319"/>
                </a:lnTo>
                <a:lnTo>
                  <a:pt x="0" y="26883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FB2FFE7-CB23-F3BB-0734-BDBC1B296E0E}"/>
              </a:ext>
            </a:extLst>
          </p:cNvPr>
          <p:cNvSpPr/>
          <p:nvPr/>
        </p:nvSpPr>
        <p:spPr>
          <a:xfrm>
            <a:off x="-572354" y="-711888"/>
            <a:ext cx="3739373" cy="3739373"/>
          </a:xfrm>
          <a:custGeom>
            <a:avLst/>
            <a:gdLst/>
            <a:ahLst/>
            <a:cxnLst/>
            <a:rect l="l" t="t" r="r" b="b"/>
            <a:pathLst>
              <a:path w="3739373" h="3739373">
                <a:moveTo>
                  <a:pt x="0" y="0"/>
                </a:moveTo>
                <a:lnTo>
                  <a:pt x="3739373" y="0"/>
                </a:lnTo>
                <a:lnTo>
                  <a:pt x="3739373" y="3739374"/>
                </a:lnTo>
                <a:lnTo>
                  <a:pt x="0" y="37393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139DC111-E186-713C-3FE8-623FFFD818B0}"/>
              </a:ext>
            </a:extLst>
          </p:cNvPr>
          <p:cNvSpPr/>
          <p:nvPr/>
        </p:nvSpPr>
        <p:spPr>
          <a:xfrm rot="-1617930">
            <a:off x="14785014" y="1143673"/>
            <a:ext cx="1413053" cy="2029188"/>
          </a:xfrm>
          <a:custGeom>
            <a:avLst/>
            <a:gdLst/>
            <a:ahLst/>
            <a:cxnLst/>
            <a:rect l="l" t="t" r="r" b="b"/>
            <a:pathLst>
              <a:path w="1413053" h="2029188">
                <a:moveTo>
                  <a:pt x="0" y="0"/>
                </a:moveTo>
                <a:lnTo>
                  <a:pt x="1413052" y="0"/>
                </a:lnTo>
                <a:lnTo>
                  <a:pt x="1413052" y="2029188"/>
                </a:lnTo>
                <a:lnTo>
                  <a:pt x="0" y="20291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704ECD5-6F77-5637-BA22-41529576EA05}"/>
              </a:ext>
            </a:extLst>
          </p:cNvPr>
          <p:cNvSpPr txBox="1"/>
          <p:nvPr/>
        </p:nvSpPr>
        <p:spPr>
          <a:xfrm>
            <a:off x="885720" y="410871"/>
            <a:ext cx="16516561" cy="1417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63"/>
              </a:lnSpc>
            </a:pPr>
            <a:r>
              <a:rPr lang="es-CO" sz="9600" dirty="0"/>
              <a:t>¿Cómo se aplica?</a:t>
            </a:r>
            <a:endParaRPr lang="en-US" sz="11435" spc="-194" dirty="0">
              <a:solidFill>
                <a:srgbClr val="000000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50475C4A-2066-BB16-80B9-F47FA0805410}"/>
              </a:ext>
            </a:extLst>
          </p:cNvPr>
          <p:cNvSpPr txBox="1"/>
          <p:nvPr/>
        </p:nvSpPr>
        <p:spPr>
          <a:xfrm>
            <a:off x="4378344" y="1931294"/>
            <a:ext cx="9655123" cy="5542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72"/>
              </a:lnSpc>
            </a:pPr>
            <a:r>
              <a:rPr lang="es-E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En lugar de hacer esto:</a:t>
            </a:r>
          </a:p>
          <a:p>
            <a:pPr algn="l">
              <a:lnSpc>
                <a:spcPts val="5472"/>
              </a:lnSpc>
            </a:pPr>
            <a:r>
              <a:rPr lang="es-ES" sz="2400" b="1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Controller</a:t>
            </a:r>
            <a:r>
              <a:rPr lang="es-ES" sz="2400" b="1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  <a:r>
              <a:rPr lang="es-ES" sz="2400" b="1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r>
              <a:rPr lang="es-ES" sz="2400" b="1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concreto → Base de datos concreta</a:t>
            </a:r>
            <a:endParaRPr lang="es-ES" sz="2400" dirty="0">
              <a:solidFill>
                <a:srgbClr val="291B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5472"/>
              </a:lnSpc>
            </a:pPr>
            <a:r>
              <a:rPr lang="es-E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Se hace esto:</a:t>
            </a:r>
          </a:p>
          <a:p>
            <a:pPr algn="l">
              <a:lnSpc>
                <a:spcPts val="5472"/>
              </a:lnSpc>
            </a:pPr>
            <a:r>
              <a:rPr lang="es-ES" sz="2400" b="1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Controller</a:t>
            </a:r>
            <a:r>
              <a:rPr lang="es-ES" sz="2400" b="1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→ Interfaz ← Implementación</a:t>
            </a:r>
          </a:p>
          <a:p>
            <a:pPr algn="l">
              <a:lnSpc>
                <a:spcPts val="5472"/>
              </a:lnSpc>
            </a:pPr>
            <a:endParaRPr lang="es-ES" sz="2400" b="1" dirty="0">
              <a:solidFill>
                <a:srgbClr val="291B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5472"/>
              </a:lnSpc>
            </a:pPr>
            <a:r>
              <a:rPr lang="es-E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Creando una interfaz que define qué? se puede hacer,</a:t>
            </a:r>
          </a:p>
          <a:p>
            <a:pPr algn="l">
              <a:lnSpc>
                <a:spcPts val="5472"/>
              </a:lnSpc>
            </a:pPr>
            <a:r>
              <a:rPr lang="es-E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y luego una clase concreta que cumple esa interfaz.</a:t>
            </a:r>
          </a:p>
          <a:p>
            <a:pPr algn="l">
              <a:lnSpc>
                <a:spcPts val="5472"/>
              </a:lnSpc>
            </a:pPr>
            <a:r>
              <a:rPr lang="es-E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Así, el sistema depende de contratos, no de implementaciones.</a:t>
            </a:r>
            <a:endParaRPr lang="en-US" sz="2400" dirty="0">
              <a:solidFill>
                <a:srgbClr val="291B2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9E90B40F-4DD5-3AA8-5139-4B95953C676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2298" y="189755"/>
            <a:ext cx="1905000" cy="177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021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BD1E98-F21F-229D-E467-9C58AF139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>
            <a:extLst>
              <a:ext uri="{FF2B5EF4-FFF2-40B4-BE49-F238E27FC236}">
                <a16:creationId xmlns:a16="http://schemas.microsoft.com/office/drawing/2014/main" id="{B7BEE018-368C-2B78-08D2-62E817CA2EC4}"/>
              </a:ext>
            </a:extLst>
          </p:cNvPr>
          <p:cNvSpPr txBox="1"/>
          <p:nvPr/>
        </p:nvSpPr>
        <p:spPr>
          <a:xfrm>
            <a:off x="1985361" y="190500"/>
            <a:ext cx="14253369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 err="1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EJEMPLO</a:t>
            </a:r>
            <a:endParaRPr lang="en-US" sz="6000" dirty="0">
              <a:solidFill>
                <a:srgbClr val="000000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344A4F80-2135-7686-38FC-5015463B2A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203"/>
          <a:stretch/>
        </p:blipFill>
        <p:spPr>
          <a:xfrm>
            <a:off x="2049270" y="1142613"/>
            <a:ext cx="14436724" cy="9030087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983AF124-2FC7-5AD7-BC41-0568A40C8A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24"/>
          <a:stretch/>
        </p:blipFill>
        <p:spPr>
          <a:xfrm>
            <a:off x="2019774" y="1029681"/>
            <a:ext cx="14630400" cy="9127042"/>
          </a:xfrm>
          <a:prstGeom prst="rect">
            <a:avLst/>
          </a:prstGeom>
        </p:spPr>
      </p:pic>
      <p:sp>
        <p:nvSpPr>
          <p:cNvPr id="3" name="Freeform 3">
            <a:extLst>
              <a:ext uri="{FF2B5EF4-FFF2-40B4-BE49-F238E27FC236}">
                <a16:creationId xmlns:a16="http://schemas.microsoft.com/office/drawing/2014/main" id="{7D1CCC91-019F-0537-C476-4BA73E893570}"/>
              </a:ext>
            </a:extLst>
          </p:cNvPr>
          <p:cNvSpPr/>
          <p:nvPr/>
        </p:nvSpPr>
        <p:spPr>
          <a:xfrm>
            <a:off x="15390541" y="-1931531"/>
            <a:ext cx="4664007" cy="4664007"/>
          </a:xfrm>
          <a:custGeom>
            <a:avLst/>
            <a:gdLst/>
            <a:ahLst/>
            <a:cxnLst/>
            <a:rect l="l" t="t" r="r" b="b"/>
            <a:pathLst>
              <a:path w="4664007" h="4664007">
                <a:moveTo>
                  <a:pt x="0" y="0"/>
                </a:moveTo>
                <a:lnTo>
                  <a:pt x="4664007" y="0"/>
                </a:lnTo>
                <a:lnTo>
                  <a:pt x="4664007" y="4664007"/>
                </a:lnTo>
                <a:lnTo>
                  <a:pt x="0" y="46640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15E72A7E-29DD-0BE5-7E0C-F768AFD21C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0" y="7554525"/>
            <a:ext cx="4663844" cy="4663844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0814349C-FD00-1D91-F99A-8856E0DFC5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752600" y="7429500"/>
            <a:ext cx="4663844" cy="4663844"/>
          </a:xfrm>
          <a:prstGeom prst="rect">
            <a:avLst/>
          </a:prstGeom>
        </p:spPr>
      </p:pic>
      <p:sp>
        <p:nvSpPr>
          <p:cNvPr id="2" name="Freeform 2">
            <a:extLst>
              <a:ext uri="{FF2B5EF4-FFF2-40B4-BE49-F238E27FC236}">
                <a16:creationId xmlns:a16="http://schemas.microsoft.com/office/drawing/2014/main" id="{2B6CE92A-4046-45BC-A05A-8DEAC0C53079}"/>
              </a:ext>
            </a:extLst>
          </p:cNvPr>
          <p:cNvSpPr/>
          <p:nvPr/>
        </p:nvSpPr>
        <p:spPr>
          <a:xfrm>
            <a:off x="-1098757" y="-1931531"/>
            <a:ext cx="4664007" cy="4664007"/>
          </a:xfrm>
          <a:custGeom>
            <a:avLst/>
            <a:gdLst/>
            <a:ahLst/>
            <a:cxnLst/>
            <a:rect l="l" t="t" r="r" b="b"/>
            <a:pathLst>
              <a:path w="4664007" h="4664007">
                <a:moveTo>
                  <a:pt x="0" y="0"/>
                </a:moveTo>
                <a:lnTo>
                  <a:pt x="4664007" y="0"/>
                </a:lnTo>
                <a:lnTo>
                  <a:pt x="4664007" y="4664007"/>
                </a:lnTo>
                <a:lnTo>
                  <a:pt x="0" y="46640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C9C9936A-66F9-A330-82DE-F052AE8EB9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2298" y="189755"/>
            <a:ext cx="1905000" cy="177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67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7840988" y="-492048"/>
            <a:ext cx="20140619" cy="20140619"/>
          </a:xfrm>
          <a:custGeom>
            <a:avLst/>
            <a:gdLst/>
            <a:ahLst/>
            <a:cxnLst/>
            <a:rect l="l" t="t" r="r" b="b"/>
            <a:pathLst>
              <a:path w="20140619" h="20140619">
                <a:moveTo>
                  <a:pt x="0" y="0"/>
                </a:moveTo>
                <a:lnTo>
                  <a:pt x="20140619" y="0"/>
                </a:lnTo>
                <a:lnTo>
                  <a:pt x="20140619" y="20140620"/>
                </a:lnTo>
                <a:lnTo>
                  <a:pt x="0" y="2014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s-CO"/>
              <a:t>Controller</a:t>
            </a:r>
            <a:endParaRPr lang="es-CO" dirty="0"/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1F488A80-9125-93BE-C06E-A0E60542F661}"/>
              </a:ext>
            </a:extLst>
          </p:cNvPr>
          <p:cNvGrpSpPr/>
          <p:nvPr/>
        </p:nvGrpSpPr>
        <p:grpSpPr>
          <a:xfrm>
            <a:off x="13164775" y="4684098"/>
            <a:ext cx="5123122" cy="4900419"/>
            <a:chOff x="11787557" y="4357881"/>
            <a:chExt cx="5123122" cy="4900419"/>
          </a:xfrm>
        </p:grpSpPr>
        <p:sp>
          <p:nvSpPr>
            <p:cNvPr id="4" name="Freeform 4"/>
            <p:cNvSpPr/>
            <p:nvPr/>
          </p:nvSpPr>
          <p:spPr>
            <a:xfrm>
              <a:off x="12981434" y="4357881"/>
              <a:ext cx="3929245" cy="4900419"/>
            </a:xfrm>
            <a:custGeom>
              <a:avLst/>
              <a:gdLst/>
              <a:ahLst/>
              <a:cxnLst/>
              <a:rect l="l" t="t" r="r" b="b"/>
              <a:pathLst>
                <a:path w="3929245" h="4900419">
                  <a:moveTo>
                    <a:pt x="0" y="0"/>
                  </a:moveTo>
                  <a:lnTo>
                    <a:pt x="3929246" y="0"/>
                  </a:lnTo>
                  <a:lnTo>
                    <a:pt x="3929246" y="4900419"/>
                  </a:lnTo>
                  <a:lnTo>
                    <a:pt x="0" y="4900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1787557" y="5882235"/>
              <a:ext cx="1983907" cy="2848953"/>
            </a:xfrm>
            <a:custGeom>
              <a:avLst/>
              <a:gdLst/>
              <a:ahLst/>
              <a:cxnLst/>
              <a:rect l="l" t="t" r="r" b="b"/>
              <a:pathLst>
                <a:path w="1983907" h="2848953">
                  <a:moveTo>
                    <a:pt x="0" y="0"/>
                  </a:moveTo>
                  <a:lnTo>
                    <a:pt x="1983907" y="0"/>
                  </a:lnTo>
                  <a:lnTo>
                    <a:pt x="1983907" y="2848953"/>
                  </a:lnTo>
                  <a:lnTo>
                    <a:pt x="0" y="2848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38401" y="595879"/>
            <a:ext cx="11843033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60"/>
              </a:lnSpc>
            </a:pPr>
            <a:r>
              <a:rPr lang="es-ES" sz="6000" dirty="0">
                <a:solidFill>
                  <a:srgbClr val="291B25"/>
                </a:solidFill>
                <a:latin typeface="Carelia"/>
                <a:ea typeface="Carelia"/>
                <a:cs typeface="Carelia"/>
                <a:sym typeface="Carelia"/>
              </a:rPr>
              <a:t>Estructura aplicada en el </a:t>
            </a:r>
            <a:r>
              <a:rPr lang="es-ES" sz="6000" dirty="0" err="1">
                <a:solidFill>
                  <a:srgbClr val="291B25"/>
                </a:solidFill>
                <a:latin typeface="Carelia"/>
                <a:ea typeface="Carelia"/>
                <a:cs typeface="Carelia"/>
                <a:sym typeface="Carelia"/>
              </a:rPr>
              <a:t>CRUD</a:t>
            </a:r>
            <a:endParaRPr lang="en-US" sz="6000" dirty="0">
              <a:solidFill>
                <a:srgbClr val="291B25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A6E839D9-C1E9-CF5B-1303-305BD1C2569A}"/>
              </a:ext>
            </a:extLst>
          </p:cNvPr>
          <p:cNvGrpSpPr/>
          <p:nvPr/>
        </p:nvGrpSpPr>
        <p:grpSpPr>
          <a:xfrm>
            <a:off x="5599693" y="2165827"/>
            <a:ext cx="8147564" cy="5036542"/>
            <a:chOff x="1784993" y="2792577"/>
            <a:chExt cx="8147564" cy="5036542"/>
          </a:xfrm>
        </p:grpSpPr>
        <p:sp>
          <p:nvSpPr>
            <p:cNvPr id="8" name="TextBox 8"/>
            <p:cNvSpPr txBox="1"/>
            <p:nvPr/>
          </p:nvSpPr>
          <p:spPr>
            <a:xfrm>
              <a:off x="1784993" y="2825344"/>
              <a:ext cx="2924384" cy="7181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 dirty="0">
                  <a:solidFill>
                    <a:srgbClr val="291B25"/>
                  </a:solidFill>
                  <a:latin typeface="Carelia"/>
                  <a:ea typeface="Carelia"/>
                  <a:cs typeface="Carelia"/>
                  <a:sym typeface="Carelia"/>
                </a:rPr>
                <a:t>Controller</a:t>
              </a:r>
            </a:p>
          </p:txBody>
        </p: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8DC0482F-8758-710D-B836-C4E9B31DDA20}"/>
                </a:ext>
              </a:extLst>
            </p:cNvPr>
            <p:cNvGrpSpPr/>
            <p:nvPr/>
          </p:nvGrpSpPr>
          <p:grpSpPr>
            <a:xfrm>
              <a:off x="5640554" y="4789472"/>
              <a:ext cx="4183138" cy="928459"/>
              <a:chOff x="1138401" y="5859706"/>
              <a:chExt cx="4183138" cy="928459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189819" y="5859706"/>
                <a:ext cx="4078682" cy="71814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5599"/>
                  </a:lnSpc>
                </a:pPr>
                <a:r>
                  <a:rPr lang="en-US" sz="3999" dirty="0">
                    <a:solidFill>
                      <a:srgbClr val="291B25"/>
                    </a:solidFill>
                    <a:latin typeface="Carelia"/>
                    <a:ea typeface="Carelia"/>
                    <a:cs typeface="Carelia"/>
                    <a:sym typeface="Carelia"/>
                  </a:rPr>
                  <a:t>Service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138401" y="6443360"/>
                <a:ext cx="4183138" cy="34480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970"/>
                  </a:lnSpc>
                </a:pPr>
                <a:r>
                  <a:rPr lang="en-US" sz="1800" b="1" dirty="0">
                    <a:solidFill>
                      <a:srgbClr val="291B25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(</a:t>
                </a:r>
                <a:r>
                  <a:rPr lang="en-US" sz="1800" b="1" dirty="0" err="1">
                    <a:solidFill>
                      <a:srgbClr val="291B25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Implementación</a:t>
                </a:r>
                <a:r>
                  <a:rPr lang="en-US" sz="1800" b="1" dirty="0">
                    <a:solidFill>
                      <a:srgbClr val="291B25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) </a:t>
                </a:r>
              </a:p>
            </p:txBody>
          </p:sp>
        </p:grpSp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91808EAE-EE2D-5E99-1D05-A7F472A69B61}"/>
                </a:ext>
              </a:extLst>
            </p:cNvPr>
            <p:cNvGrpSpPr/>
            <p:nvPr/>
          </p:nvGrpSpPr>
          <p:grpSpPr>
            <a:xfrm>
              <a:off x="5749419" y="2792577"/>
              <a:ext cx="4183138" cy="923315"/>
              <a:chOff x="7604419" y="5454861"/>
              <a:chExt cx="4183138" cy="923315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8426732" y="5454861"/>
                <a:ext cx="2538511" cy="71814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5599"/>
                  </a:lnSpc>
                </a:pPr>
                <a:r>
                  <a:rPr lang="en-US" sz="3999" dirty="0" err="1">
                    <a:solidFill>
                      <a:srgbClr val="291B25"/>
                    </a:solidFill>
                    <a:latin typeface="Carelia"/>
                    <a:ea typeface="Carelia"/>
                    <a:cs typeface="Carelia"/>
                    <a:sym typeface="Carelia"/>
                  </a:rPr>
                  <a:t>UseCase</a:t>
                </a:r>
                <a:endParaRPr lang="en-US" sz="3999" dirty="0">
                  <a:solidFill>
                    <a:srgbClr val="291B25"/>
                  </a:solidFill>
                  <a:latin typeface="Carelia"/>
                  <a:ea typeface="Carelia"/>
                  <a:cs typeface="Carelia"/>
                  <a:sym typeface="Carelia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604419" y="6033371"/>
                <a:ext cx="4183138" cy="34480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970"/>
                  </a:lnSpc>
                </a:pPr>
                <a:r>
                  <a:rPr lang="en-US" sz="1800" b="1" dirty="0">
                    <a:solidFill>
                      <a:srgbClr val="291B25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(</a:t>
                </a:r>
                <a:r>
                  <a:rPr lang="en-US" sz="1800" b="1" dirty="0" err="1">
                    <a:solidFill>
                      <a:srgbClr val="291B25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Interfaz</a:t>
                </a:r>
                <a:r>
                  <a:rPr lang="en-US" sz="1800" b="1" dirty="0">
                    <a:solidFill>
                      <a:srgbClr val="291B25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) </a:t>
                </a:r>
              </a:p>
            </p:txBody>
          </p:sp>
        </p:grpSp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8105E3A6-B594-E7DB-84BD-62FD393DB005}"/>
                </a:ext>
              </a:extLst>
            </p:cNvPr>
            <p:cNvGrpSpPr/>
            <p:nvPr/>
          </p:nvGrpSpPr>
          <p:grpSpPr>
            <a:xfrm>
              <a:off x="5671446" y="6808090"/>
              <a:ext cx="4209657" cy="1021029"/>
              <a:chOff x="1178540" y="7183342"/>
              <a:chExt cx="4209657" cy="1021029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1205059" y="7183342"/>
                <a:ext cx="4183138" cy="71814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5599"/>
                  </a:lnSpc>
                </a:pPr>
                <a:r>
                  <a:rPr lang="en-US" sz="3999" dirty="0">
                    <a:solidFill>
                      <a:srgbClr val="291B25"/>
                    </a:solidFill>
                    <a:latin typeface="Carelia"/>
                    <a:ea typeface="Carelia"/>
                    <a:cs typeface="Carelia"/>
                    <a:sym typeface="Carelia"/>
                  </a:rPr>
                  <a:t>Repository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78540" y="7859566"/>
                <a:ext cx="4183138" cy="34480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970"/>
                  </a:lnSpc>
                </a:pPr>
                <a:r>
                  <a:rPr lang="en-US" sz="1800" b="1" dirty="0">
                    <a:solidFill>
                      <a:srgbClr val="291B25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(</a:t>
                </a:r>
                <a:r>
                  <a:rPr lang="en-US" sz="1800" b="1" dirty="0" err="1">
                    <a:solidFill>
                      <a:srgbClr val="291B25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Persistencia</a:t>
                </a:r>
                <a:r>
                  <a:rPr lang="en-US" sz="1800" b="1" dirty="0">
                    <a:solidFill>
                      <a:srgbClr val="291B25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)</a:t>
                </a:r>
              </a:p>
            </p:txBody>
          </p:sp>
        </p:grpSp>
        <p:cxnSp>
          <p:nvCxnSpPr>
            <p:cNvPr id="22" name="Conector recto de flecha 21">
              <a:extLst>
                <a:ext uri="{FF2B5EF4-FFF2-40B4-BE49-F238E27FC236}">
                  <a16:creationId xmlns:a16="http://schemas.microsoft.com/office/drawing/2014/main" id="{C440B75C-9DD4-B2DA-23EE-BE48670B5633}"/>
                </a:ext>
              </a:extLst>
            </p:cNvPr>
            <p:cNvCxnSpPr>
              <a:cxnSpLocks/>
            </p:cNvCxnSpPr>
            <p:nvPr/>
          </p:nvCxnSpPr>
          <p:spPr>
            <a:xfrm>
              <a:off x="5029888" y="3151648"/>
              <a:ext cx="1221333" cy="1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CD7DAE3F-7D90-EA31-E9EB-E3B0A4AD8F30}"/>
                </a:ext>
              </a:extLst>
            </p:cNvPr>
            <p:cNvCxnSpPr>
              <a:cxnSpLocks/>
            </p:cNvCxnSpPr>
            <p:nvPr/>
          </p:nvCxnSpPr>
          <p:spPr>
            <a:xfrm>
              <a:off x="7791307" y="3909710"/>
              <a:ext cx="0" cy="896341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de flecha 26">
              <a:extLst>
                <a:ext uri="{FF2B5EF4-FFF2-40B4-BE49-F238E27FC236}">
                  <a16:creationId xmlns:a16="http://schemas.microsoft.com/office/drawing/2014/main" id="{6C984229-8180-4CDC-597B-B5AB7F567134}"/>
                </a:ext>
              </a:extLst>
            </p:cNvPr>
            <p:cNvCxnSpPr>
              <a:cxnSpLocks/>
            </p:cNvCxnSpPr>
            <p:nvPr/>
          </p:nvCxnSpPr>
          <p:spPr>
            <a:xfrm>
              <a:off x="7779734" y="5882235"/>
              <a:ext cx="0" cy="896341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" name="Imagen 27">
            <a:extLst>
              <a:ext uri="{FF2B5EF4-FFF2-40B4-BE49-F238E27FC236}">
                <a16:creationId xmlns:a16="http://schemas.microsoft.com/office/drawing/2014/main" id="{9464E77B-624F-5DB6-2B50-76069C5B45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2298" y="189755"/>
            <a:ext cx="1905000" cy="1775458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>
            <a:off x="1138400" y="1211541"/>
            <a:ext cx="11510799" cy="490833"/>
          </a:xfrm>
          <a:custGeom>
            <a:avLst/>
            <a:gdLst/>
            <a:ahLst/>
            <a:cxnLst/>
            <a:rect l="l" t="t" r="r" b="b"/>
            <a:pathLst>
              <a:path w="4160580" h="461446">
                <a:moveTo>
                  <a:pt x="0" y="0"/>
                </a:moveTo>
                <a:lnTo>
                  <a:pt x="4160580" y="0"/>
                </a:lnTo>
                <a:lnTo>
                  <a:pt x="4160580" y="461446"/>
                </a:lnTo>
                <a:lnTo>
                  <a:pt x="0" y="46144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8">
            <a:extLst>
              <a:ext uri="{FF2B5EF4-FFF2-40B4-BE49-F238E27FC236}">
                <a16:creationId xmlns:a16="http://schemas.microsoft.com/office/drawing/2014/main" id="{27FF74DA-36DD-9CFA-A20E-AA420B87E899}"/>
              </a:ext>
            </a:extLst>
          </p:cNvPr>
          <p:cNvSpPr txBox="1"/>
          <p:nvPr/>
        </p:nvSpPr>
        <p:spPr>
          <a:xfrm>
            <a:off x="1260540" y="4162722"/>
            <a:ext cx="6982600" cy="27210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5472"/>
              </a:lnSpc>
              <a:buFont typeface="+mj-lt"/>
              <a:buAutoNum type="arabicPeriod"/>
            </a:pPr>
            <a:r>
              <a:rPr lang="es-E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El </a:t>
            </a:r>
            <a:r>
              <a:rPr lang="es-E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Controller</a:t>
            </a:r>
            <a:r>
              <a:rPr lang="es-E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depende de una abstracción</a:t>
            </a:r>
          </a:p>
          <a:p>
            <a:pPr marL="457200" indent="-457200" algn="l">
              <a:lnSpc>
                <a:spcPts val="5472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Se define </a:t>
            </a: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una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interfaz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como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contrato</a:t>
            </a:r>
            <a:endParaRPr lang="en-US" sz="2400" dirty="0">
              <a:solidFill>
                <a:srgbClr val="291B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indent="-457200" algn="l">
              <a:lnSpc>
                <a:spcPts val="5472"/>
              </a:lnSpc>
              <a:buFont typeface="+mj-lt"/>
              <a:buAutoNum type="arabicPeriod"/>
            </a:pPr>
            <a:r>
              <a:rPr lang="es-E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El </a:t>
            </a:r>
            <a:r>
              <a:rPr lang="es-E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r>
              <a:rPr lang="es-E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implementa la interfaz</a:t>
            </a:r>
          </a:p>
          <a:p>
            <a:pPr marL="457200" indent="-457200" algn="l">
              <a:lnSpc>
                <a:spcPts val="5472"/>
              </a:lnSpc>
              <a:buFont typeface="+mj-lt"/>
              <a:buAutoNum type="arabicPeriod"/>
            </a:pP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Inyección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dirty="0" err="1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por</a:t>
            </a:r>
            <a:r>
              <a:rPr lang="en-US" sz="2400" dirty="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 constructor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30282" y="1028700"/>
            <a:ext cx="7827435" cy="7827435"/>
          </a:xfrm>
          <a:custGeom>
            <a:avLst/>
            <a:gdLst/>
            <a:ahLst/>
            <a:cxnLst/>
            <a:rect l="l" t="t" r="r" b="b"/>
            <a:pathLst>
              <a:path w="7827435" h="7827435">
                <a:moveTo>
                  <a:pt x="0" y="0"/>
                </a:moveTo>
                <a:lnTo>
                  <a:pt x="7827436" y="0"/>
                </a:lnTo>
                <a:lnTo>
                  <a:pt x="7827436" y="7827435"/>
                </a:lnTo>
                <a:lnTo>
                  <a:pt x="0" y="7827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063710" y="6778046"/>
            <a:ext cx="4160580" cy="461446"/>
          </a:xfrm>
          <a:custGeom>
            <a:avLst/>
            <a:gdLst/>
            <a:ahLst/>
            <a:cxnLst/>
            <a:rect l="l" t="t" r="r" b="b"/>
            <a:pathLst>
              <a:path w="4160580" h="461446">
                <a:moveTo>
                  <a:pt x="0" y="0"/>
                </a:moveTo>
                <a:lnTo>
                  <a:pt x="4160580" y="0"/>
                </a:lnTo>
                <a:lnTo>
                  <a:pt x="4160580" y="461446"/>
                </a:lnTo>
                <a:lnTo>
                  <a:pt x="0" y="461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886423">
            <a:off x="-824852" y="5960670"/>
            <a:ext cx="3707104" cy="2096199"/>
          </a:xfrm>
          <a:custGeom>
            <a:avLst/>
            <a:gdLst/>
            <a:ahLst/>
            <a:cxnLst/>
            <a:rect l="l" t="t" r="r" b="b"/>
            <a:pathLst>
              <a:path w="3707104" h="2096199">
                <a:moveTo>
                  <a:pt x="0" y="0"/>
                </a:moveTo>
                <a:lnTo>
                  <a:pt x="3707104" y="0"/>
                </a:lnTo>
                <a:lnTo>
                  <a:pt x="3707104" y="2096199"/>
                </a:lnTo>
                <a:lnTo>
                  <a:pt x="0" y="20961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650626">
            <a:off x="13393263" y="5559703"/>
            <a:ext cx="5784868" cy="5237935"/>
          </a:xfrm>
          <a:custGeom>
            <a:avLst/>
            <a:gdLst/>
            <a:ahLst/>
            <a:cxnLst/>
            <a:rect l="l" t="t" r="r" b="b"/>
            <a:pathLst>
              <a:path w="5784868" h="5237935">
                <a:moveTo>
                  <a:pt x="0" y="0"/>
                </a:moveTo>
                <a:lnTo>
                  <a:pt x="5784868" y="0"/>
                </a:lnTo>
                <a:lnTo>
                  <a:pt x="5784868" y="5237935"/>
                </a:lnTo>
                <a:lnTo>
                  <a:pt x="0" y="52379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57366" y="6908613"/>
            <a:ext cx="4039985" cy="4114800"/>
          </a:xfrm>
          <a:custGeom>
            <a:avLst/>
            <a:gdLst/>
            <a:ahLst/>
            <a:cxnLst/>
            <a:rect l="l" t="t" r="r" b="b"/>
            <a:pathLst>
              <a:path w="4039985" h="4114800">
                <a:moveTo>
                  <a:pt x="0" y="0"/>
                </a:moveTo>
                <a:lnTo>
                  <a:pt x="4039985" y="0"/>
                </a:lnTo>
                <a:lnTo>
                  <a:pt x="403998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679570" y="1742504"/>
            <a:ext cx="4887290" cy="4665141"/>
          </a:xfrm>
          <a:custGeom>
            <a:avLst/>
            <a:gdLst/>
            <a:ahLst/>
            <a:cxnLst/>
            <a:rect l="l" t="t" r="r" b="b"/>
            <a:pathLst>
              <a:path w="4887290" h="4665141">
                <a:moveTo>
                  <a:pt x="0" y="0"/>
                </a:moveTo>
                <a:lnTo>
                  <a:pt x="4887290" y="0"/>
                </a:lnTo>
                <a:lnTo>
                  <a:pt x="4887290" y="4665141"/>
                </a:lnTo>
                <a:lnTo>
                  <a:pt x="0" y="466514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945671">
            <a:off x="-1497126" y="1833423"/>
            <a:ext cx="5051652" cy="4114800"/>
          </a:xfrm>
          <a:custGeom>
            <a:avLst/>
            <a:gdLst/>
            <a:ahLst/>
            <a:cxnLst/>
            <a:rect l="l" t="t" r="r" b="b"/>
            <a:pathLst>
              <a:path w="5051652" h="4114800">
                <a:moveTo>
                  <a:pt x="0" y="0"/>
                </a:moveTo>
                <a:lnTo>
                  <a:pt x="5051652" y="0"/>
                </a:lnTo>
                <a:lnTo>
                  <a:pt x="5051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197394" y="4341775"/>
            <a:ext cx="9893213" cy="1467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63"/>
              </a:lnSpc>
            </a:pPr>
            <a:r>
              <a:rPr lang="en-US" sz="11435" spc="-194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Gracias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63710" y="7376554"/>
            <a:ext cx="4160580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hola@unsitiogenial.es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B6C2302-1EF3-1439-C8C5-74C5FCEB6EE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6759" y="140971"/>
            <a:ext cx="1905000" cy="17754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310</Words>
  <Application>Microsoft Office PowerPoint</Application>
  <PresentationFormat>Personalizado</PresentationFormat>
  <Paragraphs>68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Carelia</vt:lpstr>
      <vt:lpstr>Arial</vt:lpstr>
      <vt:lpstr>Montserrat</vt:lpstr>
      <vt:lpstr>Montserrat Bold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Proyecto Desarrollo Tecnológico Ilustrado Verde y Beige</dc:title>
  <cp:lastModifiedBy>DANIELA SANABRIA MOSQUERA</cp:lastModifiedBy>
  <cp:revision>14</cp:revision>
  <dcterms:created xsi:type="dcterms:W3CDTF">2006-08-16T00:00:00Z</dcterms:created>
  <dcterms:modified xsi:type="dcterms:W3CDTF">2026-02-14T07:13:46Z</dcterms:modified>
  <dc:identifier>DAHBOxiTuN0</dc:identifier>
</cp:coreProperties>
</file>